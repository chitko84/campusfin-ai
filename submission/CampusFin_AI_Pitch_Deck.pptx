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4000"/>
            </a:avLst>
          </a:prstGeom>
          <a:solidFill>
            <a:srgbClr val="112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84048"/>
            <a:ext cx="283464" cy="283464"/>
          </a:xfrm>
          <a:prstGeom prst="roundRect">
            <a:avLst>
              <a:gd name="adj" fmla="val 14000"/>
            </a:avLst>
          </a:prstGeom>
          <a:solidFill>
            <a:srgbClr val="9DE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0233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CAMPUSFIN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48056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A6C3BA"/>
                </a:solidFill>
                <a:latin typeface="Aptos"/>
              </a:defRPr>
            </a:pPr>
            <a:r>
              <a:t>SHENZHEN FINTECHATHON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886968"/>
            <a:ext cx="11000232" cy="0"/>
          </a:xfrm>
          <a:prstGeom prst="line">
            <a:avLst/>
          </a:prstGeom>
          <a:ln w="12700">
            <a:solidFill>
              <a:srgbClr val="395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89336" y="6492240"/>
            <a:ext cx="8869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9EC9BF"/>
                </a:solidFill>
                <a:latin typeface="Aptos"/>
              </a:defRPr>
            </a:pPr>
            <a:r>
              <a:t>01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207008"/>
            <a:ext cx="4297680" cy="283464"/>
          </a:xfrm>
          <a:prstGeom prst="roundRect">
            <a:avLst>
              <a:gd name="adj" fmla="val 14000"/>
            </a:avLst>
          </a:prstGeom>
          <a:solidFill>
            <a:srgbClr val="24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75588"/>
            <a:ext cx="4069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C4F6E9"/>
                </a:solidFill>
                <a:latin typeface="Aptos"/>
              </a:defRPr>
            </a:pPr>
            <a:r>
              <a:t>TOPIC C · INTERNATIONAL STUDENT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755648"/>
            <a:ext cx="731520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4400" b="1">
                <a:solidFill>
                  <a:srgbClr val="FFFFFF"/>
                </a:solidFill>
                <a:latin typeface="Aptos"/>
              </a:defRPr>
            </a:pPr>
            <a:r>
              <a:t>Their money</a:t>
            </a:r>
          </a:p>
          <a:p>
            <a:pPr>
              <a:spcAft>
                <a:spcPts val="300"/>
              </a:spcAft>
              <a:defRPr sz="4400" b="1">
                <a:solidFill>
                  <a:srgbClr val="FFFFFF"/>
                </a:solidFill>
                <a:latin typeface="Aptos"/>
              </a:defRPr>
            </a:pPr>
            <a:r>
              <a:t>has a timeline.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749039"/>
            <a:ext cx="80467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A6E5D4"/>
                </a:solidFill>
                <a:latin typeface="Aptos"/>
              </a:defRPr>
            </a:pPr>
            <a:r>
              <a:t>CAMPUSFIN AI  /  PREDICT · RESCUE ·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4334256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D1E4DE"/>
                </a:solidFill>
                <a:latin typeface="Aptos"/>
              </a:defRPr>
            </a:pPr>
            <a:r>
              <a:t>Deadline-aware financial recovery for international students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490472"/>
            <a:ext cx="2862072" cy="4059936"/>
          </a:xfrm>
          <a:prstGeom prst="roundRect">
            <a:avLst>
              <a:gd name="adj" fmla="val 14000"/>
            </a:avLst>
          </a:prstGeom>
          <a:solidFill>
            <a:srgbClr val="1D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14232" y="2148839"/>
            <a:ext cx="219456" cy="219456"/>
          </a:xfrm>
          <a:prstGeom prst="ellipse">
            <a:avLst/>
          </a:prstGeom>
          <a:solidFill>
            <a:srgbClr val="78B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2121408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1F3ED"/>
                </a:solidFill>
                <a:latin typeface="Aptos"/>
              </a:defRPr>
            </a:pPr>
            <a:r>
              <a:t>18 OCT · RENT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3960" y="2414015"/>
            <a:ext cx="0" cy="420624"/>
          </a:xfrm>
          <a:prstGeom prst="line">
            <a:avLst/>
          </a:prstGeom>
          <a:ln w="25400">
            <a:solidFill>
              <a:srgbClr val="90A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714232" y="2926079"/>
            <a:ext cx="219456" cy="21945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2898648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1F3ED"/>
                </a:solidFill>
                <a:latin typeface="Aptos"/>
              </a:defRPr>
            </a:pPr>
            <a:r>
              <a:t>25 OCT · TUITION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23960" y="3191256"/>
            <a:ext cx="0" cy="420624"/>
          </a:xfrm>
          <a:prstGeom prst="line">
            <a:avLst/>
          </a:prstGeom>
          <a:ln w="25400">
            <a:solidFill>
              <a:srgbClr val="90A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714232" y="3703320"/>
            <a:ext cx="219456" cy="219456"/>
          </a:xfrm>
          <a:prstGeom prst="ellipse">
            <a:avLst/>
          </a:prstGeom>
          <a:solidFill>
            <a:srgbClr val="28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3675887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1F3ED"/>
                </a:solidFill>
                <a:latin typeface="Aptos"/>
              </a:defRPr>
            </a:pPr>
            <a:r>
              <a:t>28 OCT · FUNDING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983480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96C8BB"/>
                </a:solidFill>
                <a:latin typeface="Aptos"/>
              </a:defRPr>
            </a:pPr>
            <a:r>
              <a:t>A SIMPLER WAY TO SEE WHAT’S NEXT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4000"/>
            </a:avLst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84048"/>
            <a:ext cx="283464" cy="283464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0233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2B2E"/>
                </a:solidFill>
                <a:latin typeface="Aptos"/>
              </a:defRPr>
            </a:pPr>
            <a:r>
              <a:t>CAMPUSFIN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48056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98178"/>
                </a:solidFill>
                <a:latin typeface="Aptos"/>
              </a:defRPr>
            </a:pPr>
            <a:r>
              <a:t>PROBLEM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886968"/>
            <a:ext cx="11000232" cy="0"/>
          </a:xfrm>
          <a:prstGeom prst="line">
            <a:avLst/>
          </a:prstGeom>
          <a:ln w="12700">
            <a:solidFill>
              <a:srgbClr val="E4E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12B"/>
                </a:solidFill>
                <a:latin typeface="Aptos"/>
              </a:defRPr>
            </a:pPr>
            <a:r>
              <a:t>Financial stress is often a timing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65376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63757B"/>
                </a:solidFill>
                <a:latin typeface="Aptos"/>
              </a:defRPr>
            </a:pPr>
            <a:r>
              <a:t>Students receive uncertain funding. Essential obligations still have fixed deadlines.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92240"/>
            <a:ext cx="8869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8AA19A"/>
                </a:solidFill>
                <a:latin typeface="Aptos"/>
              </a:defRPr>
            </a:pPr>
            <a:r>
              <a:t>02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05456"/>
            <a:ext cx="3611880" cy="2514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788920"/>
            <a:ext cx="576072" cy="283464"/>
          </a:xfrm>
          <a:prstGeom prst="roundRect">
            <a:avLst>
              <a:gd name="adj" fmla="val 14000"/>
            </a:avLst>
          </a:prstGeom>
          <a:solidFill>
            <a:srgbClr val="E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857500"/>
            <a:ext cx="3474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1927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4212B"/>
                </a:solidFill>
                <a:latin typeface="Aptos"/>
              </a:defRPr>
            </a:pPr>
            <a:r>
              <a:t>Cross-border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59352"/>
            <a:ext cx="306324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63757B"/>
                </a:solidFill>
                <a:latin typeface="Aptos"/>
              </a:defRPr>
            </a:pPr>
            <a:r>
              <a:t>An expected family transfer may arrive after fees become due.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7992" y="2505456"/>
            <a:ext cx="3611880" cy="2514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82312" y="2788920"/>
            <a:ext cx="576072" cy="283464"/>
          </a:xfrm>
          <a:prstGeom prst="roundRect">
            <a:avLst>
              <a:gd name="adj" fmla="val 14000"/>
            </a:avLst>
          </a:prstGeom>
          <a:solidFill>
            <a:srgbClr val="E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4" y="2857500"/>
            <a:ext cx="3474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331927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4212B"/>
                </a:solidFill>
                <a:latin typeface="Aptos"/>
              </a:defRPr>
            </a:pPr>
            <a:r>
              <a:t>Fragmented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959352"/>
            <a:ext cx="306324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63757B"/>
                </a:solidFill>
                <a:latin typeface="Aptos"/>
              </a:defRPr>
            </a:pPr>
            <a:r>
              <a:t>Remittances, scholarships and wages sit outside the same forecast.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75904" y="2505456"/>
            <a:ext cx="3611880" cy="2514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50224" y="2788920"/>
            <a:ext cx="576072" cy="283464"/>
          </a:xfrm>
          <a:prstGeom prst="roundRect">
            <a:avLst>
              <a:gd name="adj" fmla="val 14000"/>
            </a:avLst>
          </a:prstGeom>
          <a:solidFill>
            <a:srgbClr val="E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9096" y="2857500"/>
            <a:ext cx="3474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331927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4212B"/>
                </a:solidFill>
                <a:latin typeface="Aptos"/>
              </a:defRPr>
            </a:pPr>
            <a:r>
              <a:t>Unverified advice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3959352"/>
            <a:ext cx="306324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63757B"/>
                </a:solidFill>
                <a:latin typeface="Aptos"/>
              </a:defRPr>
            </a:pPr>
            <a:r>
              <a:t>A plausible AI suggestion may be infeasible without confirmed money.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5440680"/>
            <a:ext cx="10762488" cy="512064"/>
          </a:xfrm>
          <a:prstGeom prst="roundRect">
            <a:avLst>
              <a:gd name="adj" fmla="val 14000"/>
            </a:avLst>
          </a:prstGeom>
          <a:solidFill>
            <a:srgbClr val="E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96128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7C7B"/>
                </a:solidFill>
                <a:latin typeface="Aptos"/>
              </a:defRPr>
            </a:pPr>
            <a:r>
              <a:t>THE GOAL  ·  Help a student act before timing becomes a missed tuition payment.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4000"/>
            </a:avLst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84048"/>
            <a:ext cx="283464" cy="283464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0233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2B2E"/>
                </a:solidFill>
                <a:latin typeface="Aptos"/>
              </a:defRPr>
            </a:pPr>
            <a:r>
              <a:t>CAMPUSFIN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48056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98178"/>
                </a:solidFill>
                <a:latin typeface="Aptos"/>
              </a:defRPr>
            </a:pPr>
            <a:r>
              <a:t>SYNTHETIC STUDENT CASE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886968"/>
            <a:ext cx="11000232" cy="0"/>
          </a:xfrm>
          <a:prstGeom prst="line">
            <a:avLst/>
          </a:prstGeom>
          <a:ln w="12700">
            <a:solidFill>
              <a:srgbClr val="E4E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12B"/>
                </a:solidFill>
                <a:latin typeface="Aptos"/>
              </a:defRPr>
            </a:pPr>
            <a:r>
              <a:t>Meet Amina. One delayed transfer changes everything.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65376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63757B"/>
                </a:solidFill>
                <a:latin typeface="Aptos"/>
              </a:defRPr>
            </a:pPr>
            <a:r>
              <a:t>A reproducible hypothetical case set in Kuala Lumpur. No real bank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92240"/>
            <a:ext cx="8869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8AA19A"/>
                </a:solidFill>
                <a:latin typeface="Aptos"/>
              </a:defRPr>
            </a:pPr>
            <a:r>
              <a:t>03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95144"/>
            <a:ext cx="3611880" cy="15727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569464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OPENING CASH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9443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14212B"/>
                </a:solidFill>
                <a:latin typeface="Aptos"/>
              </a:defRPr>
            </a:pPr>
            <a:r>
              <a:t>RM 1,200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83864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57B"/>
                </a:solidFill>
                <a:latin typeface="Aptos"/>
              </a:defRPr>
            </a:pPr>
            <a:r>
              <a:t>Includes previously received wages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2295144"/>
            <a:ext cx="3611880" cy="15727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569464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RENT · 18 OCT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9443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14212B"/>
                </a:solidFill>
                <a:latin typeface="Aptos"/>
              </a:defRPr>
            </a:pPr>
            <a:r>
              <a:t>RM 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483864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57B"/>
                </a:solidFill>
                <a:latin typeface="Aptos"/>
              </a:defRPr>
            </a:pPr>
            <a:r>
              <a:t>Fixed obligation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7615" y="2295144"/>
            <a:ext cx="3611880" cy="15727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7" y="2569464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TUITION · 25 OCT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7" y="29443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14212B"/>
                </a:solidFill>
                <a:latin typeface="Aptos"/>
              </a:defRPr>
            </a:pPr>
            <a:r>
              <a:t>RM 1,500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7" y="3483864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57B"/>
                </a:solidFill>
                <a:latin typeface="Aptos"/>
              </a:defRPr>
            </a:pPr>
            <a:r>
              <a:t>Fixed obligation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78808"/>
            <a:ext cx="6675120" cy="1435608"/>
          </a:xfrm>
          <a:prstGeom prst="roundRect">
            <a:avLst>
              <a:gd name="adj" fmla="val 14000"/>
            </a:avLst>
          </a:prstGeom>
          <a:solidFill>
            <a:srgbClr val="E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62272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E7C7B"/>
                </a:solidFill>
                <a:latin typeface="Aptos"/>
              </a:defRPr>
            </a:pPr>
            <a:r>
              <a:t>Family remittance  ·  USD 350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28616"/>
            <a:ext cx="6309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4212B"/>
                </a:solidFill>
                <a:latin typeface="Aptos"/>
              </a:defRPr>
            </a:pPr>
            <a:r>
              <a:t>USD 5 deducted fee  ×  4.20 MYR/USD  =  RM 1,449 net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52944" y="4178808"/>
            <a:ext cx="3986784" cy="1435608"/>
          </a:xfrm>
          <a:prstGeom prst="roundRect">
            <a:avLst>
              <a:gd name="adj" fmla="val 14000"/>
            </a:avLst>
          </a:prstGeom>
          <a:solidFill>
            <a:srgbClr val="FB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08975" y="4443984"/>
            <a:ext cx="3566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0392B"/>
                </a:solidFill>
                <a:latin typeface="Aptos"/>
              </a:defRPr>
            </a:pPr>
            <a:r>
              <a:t>DELAYED TO 28 OCTOBER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1" y="4873752"/>
            <a:ext cx="34747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C0392B"/>
                </a:solidFill>
                <a:latin typeface="Aptos"/>
              </a:defRPr>
            </a:pPr>
            <a:r>
              <a:t>RM 1,000 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4000"/>
            </a:avLst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84048"/>
            <a:ext cx="283464" cy="283464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0233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2B2E"/>
                </a:solidFill>
                <a:latin typeface="Aptos"/>
              </a:defRPr>
            </a:pPr>
            <a:r>
              <a:t>CAMPUSFIN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48056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98178"/>
                </a:solidFill>
                <a:latin typeface="Aptos"/>
              </a:defRPr>
            </a:pPr>
            <a:r>
              <a:t>DEADLINESHIELD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886968"/>
            <a:ext cx="11000232" cy="0"/>
          </a:xfrm>
          <a:prstGeom prst="line">
            <a:avLst/>
          </a:prstGeom>
          <a:ln w="12700">
            <a:solidFill>
              <a:srgbClr val="E4E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12B"/>
                </a:solidFill>
                <a:latin typeface="Aptos"/>
              </a:defRPr>
            </a:pPr>
            <a:r>
              <a:t>One change. A visible financial collision.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65376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63757B"/>
                </a:solidFill>
                <a:latin typeface="Aptos"/>
              </a:defRPr>
            </a:pPr>
            <a:r>
              <a:t>The Financial Horizon recomputes projected funding as soon as a scenario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92240"/>
            <a:ext cx="8869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8AA19A"/>
                </a:solidFill>
                <a:latin typeface="Aptos"/>
              </a:defRPr>
            </a:pPr>
            <a:r>
              <a:t>04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2377440"/>
            <a:ext cx="10835640" cy="3291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60904"/>
            <a:ext cx="18288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E7C7B"/>
                </a:solidFill>
                <a:latin typeface="Aptos"/>
              </a:defRPr>
            </a:pPr>
            <a:r>
              <a:t>BASE CASE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3328416"/>
            <a:ext cx="9390888" cy="0"/>
          </a:xfrm>
          <a:prstGeom prst="line">
            <a:avLst/>
          </a:prstGeom>
          <a:ln w="63500">
            <a:solidFill>
              <a:srgbClr val="7CC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103120" y="3163824"/>
            <a:ext cx="320040" cy="32004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3675887"/>
            <a:ext cx="15544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3757B"/>
                </a:solidFill>
                <a:latin typeface="Aptos"/>
              </a:defRPr>
            </a:pPr>
            <a:r>
              <a:t>RENT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163824"/>
            <a:ext cx="320040" cy="32004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675887"/>
            <a:ext cx="15544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3757B"/>
                </a:solidFill>
                <a:latin typeface="Aptos"/>
              </a:defRPr>
            </a:pPr>
            <a:r>
              <a:t>TUITION</a:t>
            </a:r>
          </a:p>
        </p:txBody>
      </p:sp>
      <p:sp>
        <p:nvSpPr>
          <p:cNvPr id="17" name="Oval 16"/>
          <p:cNvSpPr/>
          <p:nvPr/>
        </p:nvSpPr>
        <p:spPr>
          <a:xfrm>
            <a:off x="9738360" y="3163824"/>
            <a:ext cx="320040" cy="32004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3675887"/>
            <a:ext cx="15544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3757B"/>
                </a:solidFill>
                <a:latin typeface="Aptos"/>
              </a:defRPr>
            </a:pPr>
            <a:r>
              <a:t>FAMILY FUNDS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734056"/>
            <a:ext cx="18288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E7C7B"/>
                </a:solidFill>
                <a:latin typeface="Aptos"/>
              </a:defRPr>
            </a:pPr>
            <a:r>
              <a:t>COVERED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0976" y="4178808"/>
            <a:ext cx="10168128" cy="0"/>
          </a:xfrm>
          <a:prstGeom prst="line">
            <a:avLst/>
          </a:prstGeom>
          <a:ln w="12700">
            <a:solidFill>
              <a:srgbClr val="E4E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60120" y="4416552"/>
            <a:ext cx="18288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0392B"/>
                </a:solidFill>
                <a:latin typeface="Aptos"/>
              </a:defRPr>
            </a:pPr>
            <a:r>
              <a:t>STRESS CASE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5010912"/>
            <a:ext cx="5669280" cy="0"/>
          </a:xfrm>
          <a:prstGeom prst="line">
            <a:avLst/>
          </a:prstGeom>
          <a:ln w="635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12280" y="5010912"/>
            <a:ext cx="3721608" cy="0"/>
          </a:xfrm>
          <a:prstGeom prst="line">
            <a:avLst/>
          </a:prstGeom>
          <a:ln w="38100">
            <a:solidFill>
              <a:srgbClr val="AF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103120" y="4846320"/>
            <a:ext cx="320040" cy="32004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5276088"/>
            <a:ext cx="1874519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3757B"/>
                </a:solidFill>
                <a:latin typeface="Aptos"/>
              </a:defRPr>
            </a:pPr>
            <a:r>
              <a:t>RENT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484632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276088"/>
            <a:ext cx="1874519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3757B"/>
                </a:solidFill>
                <a:latin typeface="Aptos"/>
              </a:defRPr>
            </a:pPr>
            <a:r>
              <a:t>TUITION</a:t>
            </a:r>
          </a:p>
        </p:txBody>
      </p:sp>
      <p:sp>
        <p:nvSpPr>
          <p:cNvPr id="28" name="Oval 27"/>
          <p:cNvSpPr/>
          <p:nvPr/>
        </p:nvSpPr>
        <p:spPr>
          <a:xfrm>
            <a:off x="9738360" y="4846320"/>
            <a:ext cx="320040" cy="320040"/>
          </a:xfrm>
          <a:prstGeom prst="ellipse">
            <a:avLst/>
          </a:prstGeom>
          <a:solidFill>
            <a:srgbClr val="28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5276088"/>
            <a:ext cx="1874519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63757B"/>
                </a:solidFill>
                <a:latin typeface="Aptos"/>
              </a:defRPr>
            </a:pPr>
            <a:r>
              <a:t>LATE FUNDS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462272"/>
            <a:ext cx="2423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C0392B"/>
                </a:solidFill>
                <a:latin typeface="Aptos"/>
              </a:defRPr>
            </a:pPr>
            <a:r>
              <a:t>RM 1,000 SHORT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4000"/>
            </a:avLst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84048"/>
            <a:ext cx="283464" cy="283464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0233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2B2E"/>
                </a:solidFill>
                <a:latin typeface="Aptos"/>
              </a:defRPr>
            </a:pPr>
            <a:r>
              <a:t>CAMPUSFIN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48056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98178"/>
                </a:solidFill>
                <a:latin typeface="Aptos"/>
              </a:defRPr>
            </a:pPr>
            <a:r>
              <a:t>RESCUE PLANNING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886968"/>
            <a:ext cx="11000232" cy="0"/>
          </a:xfrm>
          <a:prstGeom prst="line">
            <a:avLst/>
          </a:prstGeom>
          <a:ln w="12700">
            <a:solidFill>
              <a:srgbClr val="E4E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12B"/>
                </a:solidFill>
                <a:latin typeface="Aptos"/>
              </a:defRPr>
            </a:pPr>
            <a:r>
              <a:t>A responsible rescue can also say “not feasible.”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65376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63757B"/>
                </a:solidFill>
                <a:latin typeface="Aptos"/>
              </a:defRPr>
            </a:pPr>
            <a:r>
              <a:t>Conditional actions are simulated before they are recommended.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92240"/>
            <a:ext cx="8869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8AA19A"/>
                </a:solidFill>
                <a:latin typeface="Aptos"/>
              </a:defRPr>
            </a:pPr>
            <a:r>
              <a:t>05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3584448" cy="22219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688336"/>
            <a:ext cx="31546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4212B"/>
                </a:solidFill>
                <a:latin typeface="Aptos"/>
              </a:defRPr>
            </a:pPr>
            <a:r>
              <a:t>EARLIER TRANSFER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3172968"/>
            <a:ext cx="2057400" cy="283464"/>
          </a:xfrm>
          <a:prstGeom prst="roundRect">
            <a:avLst>
              <a:gd name="adj" fmla="val 14000"/>
            </a:avLst>
          </a:prstGeom>
          <a:solidFill>
            <a:srgbClr val="E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41548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CONDITIONAL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666744"/>
            <a:ext cx="3099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63757B"/>
                </a:solidFill>
                <a:latin typeface="Aptos"/>
              </a:defRPr>
            </a:pPr>
            <a:r>
              <a:t>Requires sender funds available and timely arrival.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7992" y="2377440"/>
            <a:ext cx="3584448" cy="22219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2688336"/>
            <a:ext cx="31546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4212B"/>
                </a:solidFill>
                <a:latin typeface="Aptos"/>
              </a:defRPr>
            </a:pPr>
            <a:r>
              <a:t>UNIVERSITY EXTENSION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6592" y="3172968"/>
            <a:ext cx="2057400" cy="283464"/>
          </a:xfrm>
          <a:prstGeom prst="roundRect">
            <a:avLst>
              <a:gd name="adj" fmla="val 14000"/>
            </a:avLst>
          </a:prstGeom>
          <a:solidFill>
            <a:srgbClr val="FB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55464" y="3241548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C0392B"/>
                </a:solidFill>
                <a:latin typeface="Aptos"/>
              </a:defRPr>
            </a:pPr>
            <a:r>
              <a:t>PENDING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3666744"/>
            <a:ext cx="3099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63757B"/>
                </a:solidFill>
                <a:latin typeface="Aptos"/>
              </a:defRPr>
            </a:pPr>
            <a:r>
              <a:t>Never treated as accepted until confirmed.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57616" y="2377440"/>
            <a:ext cx="3584448" cy="22219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86216" y="2688336"/>
            <a:ext cx="31546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4212B"/>
                </a:solidFill>
                <a:latin typeface="Aptos"/>
              </a:defRPr>
            </a:pPr>
            <a:r>
              <a:t>FAMILY TOP-UP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86216" y="3172968"/>
            <a:ext cx="2057400" cy="283464"/>
          </a:xfrm>
          <a:prstGeom prst="roundRect">
            <a:avLst>
              <a:gd name="adj" fmla="val 14000"/>
            </a:avLst>
          </a:prstGeom>
          <a:solidFill>
            <a:srgbClr val="E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5088" y="3241548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CONDITIONAL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6" y="3666744"/>
            <a:ext cx="3099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63757B"/>
                </a:solidFill>
                <a:latin typeface="Aptos"/>
              </a:defRPr>
            </a:pPr>
            <a:r>
              <a:t>Extra amount sized using verified math.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910328"/>
            <a:ext cx="10844784" cy="786384"/>
          </a:xfrm>
          <a:prstGeom prst="roundRect">
            <a:avLst>
              <a:gd name="adj" fmla="val 14000"/>
            </a:avLst>
          </a:prstGeom>
          <a:solidFill>
            <a:srgbClr val="E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93208"/>
            <a:ext cx="208483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E7C7B"/>
                </a:solidFill>
                <a:latin typeface="Aptos"/>
              </a:defRPr>
            </a:pPr>
            <a:r>
              <a:t>ESSENTIALGUARD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35224" y="5047488"/>
            <a:ext cx="8156448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4212B"/>
                </a:solidFill>
                <a:latin typeface="Aptos"/>
              </a:defRPr>
            </a:pPr>
            <a:r>
              <a:t>A tuition solution should not leave the student without essentials.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4000"/>
            </a:avLst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84048"/>
            <a:ext cx="283464" cy="283464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0233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2B2E"/>
                </a:solidFill>
                <a:latin typeface="Aptos"/>
              </a:defRPr>
            </a:pPr>
            <a:r>
              <a:t>CAMPUSFIN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48056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98178"/>
                </a:solidFill>
                <a:latin typeface="Aptos"/>
              </a:defRPr>
            </a:pPr>
            <a:r>
              <a:t>EXPLANATION AND PROVENANCE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886968"/>
            <a:ext cx="11000232" cy="0"/>
          </a:xfrm>
          <a:prstGeom prst="line">
            <a:avLst/>
          </a:prstGeom>
          <a:ln w="12700">
            <a:solidFill>
              <a:srgbClr val="E4E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12B"/>
                </a:solidFill>
                <a:latin typeface="Aptos"/>
              </a:defRPr>
            </a:pPr>
            <a:r>
              <a:t>Decision X-Ray: show why, not just what.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65376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63757B"/>
                </a:solidFill>
                <a:latin typeface="Aptos"/>
              </a:defRPr>
            </a:pPr>
            <a:r>
              <a:t>Inspect the exact change, the source records, and the remaining assumptions.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92240"/>
            <a:ext cx="8869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8AA19A"/>
                </a:solidFill>
                <a:latin typeface="Aptos"/>
              </a:defRPr>
            </a:pPr>
            <a:r>
              <a:t>06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468880"/>
            <a:ext cx="2706624" cy="1892807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" y="2743200"/>
            <a:ext cx="1444752" cy="283464"/>
          </a:xfrm>
          <a:prstGeom prst="roundRect">
            <a:avLst>
              <a:gd name="adj" fmla="val 14000"/>
            </a:avLst>
          </a:prstGeom>
          <a:solidFill>
            <a:srgbClr val="E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11780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227832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4212B"/>
                </a:solidFill>
                <a:latin typeface="Aptos"/>
              </a:defRPr>
            </a:pPr>
            <a:r>
              <a:t>USD 350 family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3054096"/>
            <a:ext cx="320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0E7C7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1296" y="2468880"/>
            <a:ext cx="2706624" cy="1892807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21608" y="2743200"/>
            <a:ext cx="1444752" cy="283464"/>
          </a:xfrm>
          <a:prstGeom prst="roundRect">
            <a:avLst>
              <a:gd name="adj" fmla="val 14000"/>
            </a:avLst>
          </a:prstGeom>
          <a:solidFill>
            <a:srgbClr val="E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2811780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3227832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4212B"/>
                </a:solidFill>
                <a:latin typeface="Aptos"/>
              </a:defRPr>
            </a:pPr>
            <a:r>
              <a:t>18 Oct → 28 Oct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3054096"/>
            <a:ext cx="320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0E7C7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7376" y="2468880"/>
            <a:ext cx="2706624" cy="1892807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47688" y="2743200"/>
            <a:ext cx="1444752" cy="283464"/>
          </a:xfrm>
          <a:prstGeom prst="roundRect">
            <a:avLst>
              <a:gd name="adj" fmla="val 14000"/>
            </a:avLst>
          </a:prstGeom>
          <a:solidFill>
            <a:srgbClr val="E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811780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227832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4212B"/>
                </a:solidFill>
                <a:latin typeface="Aptos"/>
              </a:defRPr>
            </a:pPr>
            <a:r>
              <a:t>Tuition due 25 Oct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3054096"/>
            <a:ext cx="320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0E7C7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63456" y="2468880"/>
            <a:ext cx="2706624" cy="1892807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73768" y="2743200"/>
            <a:ext cx="1444752" cy="283464"/>
          </a:xfrm>
          <a:prstGeom prst="roundRect">
            <a:avLst>
              <a:gd name="adj" fmla="val 14000"/>
            </a:avLst>
          </a:prstGeom>
          <a:solidFill>
            <a:srgbClr val="E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811780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3227832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C0392B"/>
                </a:solidFill>
                <a:latin typeface="Aptos"/>
              </a:defRPr>
            </a:pPr>
            <a:r>
              <a:t>RM 1,000 gap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" y="4782312"/>
            <a:ext cx="10844784" cy="896112"/>
          </a:xfrm>
          <a:prstGeom prst="roundRect">
            <a:avLst>
              <a:gd name="adj" fmla="val 14000"/>
            </a:avLst>
          </a:prstGeom>
          <a:solidFill>
            <a:srgbClr val="E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020056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E7C7B"/>
                </a:solidFill>
                <a:latin typeface="Aptos"/>
              </a:defRPr>
            </a:pPr>
            <a:r>
              <a:t>PROOFCARD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9736" y="5001768"/>
            <a:ext cx="87782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4212B"/>
                </a:solidFill>
                <a:latin typeface="Aptos"/>
              </a:defRPr>
            </a:pPr>
            <a:r>
              <a:t>Every displayed amount can be traced to ledger inputs and the Python engine.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4000"/>
            </a:avLst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84048"/>
            <a:ext cx="283464" cy="283464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0233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2B2E"/>
                </a:solidFill>
                <a:latin typeface="Aptos"/>
              </a:defRPr>
            </a:pPr>
            <a:r>
              <a:t>CAMPUSFIN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48056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98178"/>
                </a:solidFill>
                <a:latin typeface="Aptos"/>
              </a:defRPr>
            </a:pPr>
            <a:r>
              <a:t>AI AND TRUST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886968"/>
            <a:ext cx="11000232" cy="0"/>
          </a:xfrm>
          <a:prstGeom prst="line">
            <a:avLst/>
          </a:prstGeom>
          <a:ln w="12700">
            <a:solidFill>
              <a:srgbClr val="E4E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12B"/>
                </a:solidFill>
                <a:latin typeface="Aptos"/>
              </a:defRPr>
            </a:pPr>
            <a:r>
              <a:t>One supervised agent. Deterministic money math.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65376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63757B"/>
                </a:solidFill>
                <a:latin typeface="Aptos"/>
              </a:defRPr>
            </a:pPr>
            <a:r>
              <a:t>Gemini explains and orchestrates read-only tools; the backend calculates all financial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92240"/>
            <a:ext cx="8869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8AA19A"/>
                </a:solidFill>
                <a:latin typeface="Aptos"/>
              </a:defRPr>
            </a:pPr>
            <a:r>
              <a:t>07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41448"/>
            <a:ext cx="3520440" cy="2130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73405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12B"/>
                </a:solidFill>
                <a:latin typeface="Aptos"/>
              </a:defRPr>
            </a:pPr>
            <a:r>
              <a:t>STUDENT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2461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4212B"/>
                </a:solidFill>
                <a:latin typeface="Aptos"/>
              </a:defRPr>
            </a:pPr>
            <a:r>
              <a:t>“What if my transfer</a:t>
            </a:r>
          </a:p>
          <a:p>
            <a:pPr>
              <a:spcAft>
                <a:spcPts val="300"/>
              </a:spcAft>
              <a:defRPr sz="2000" b="1">
                <a:solidFill>
                  <a:srgbClr val="14212B"/>
                </a:solidFill>
                <a:latin typeface="Aptos"/>
              </a:defRPr>
            </a:pPr>
            <a:r>
              <a:t>arrives late?”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441448"/>
            <a:ext cx="3520440" cy="2130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73405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7C7B"/>
                </a:solidFill>
                <a:latin typeface="Aptos"/>
              </a:defRPr>
            </a:pPr>
            <a:r>
              <a:t>GEMINI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2461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4212B"/>
                </a:solidFill>
                <a:latin typeface="Aptos"/>
              </a:defRPr>
            </a:pPr>
            <a:r>
              <a:t>Approved tool calls</a:t>
            </a:r>
          </a:p>
          <a:p>
            <a:pPr>
              <a:spcAft>
                <a:spcPts val="300"/>
              </a:spcAft>
              <a:defRPr sz="2000" b="1">
                <a:solidFill>
                  <a:srgbClr val="14212B"/>
                </a:solidFill>
                <a:latin typeface="Aptos"/>
              </a:defRPr>
            </a:pPr>
            <a:r>
              <a:t>No ledger writes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441448"/>
            <a:ext cx="3520440" cy="2130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73405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4212B"/>
                </a:solidFill>
                <a:latin typeface="Aptos"/>
              </a:defRPr>
            </a:pPr>
            <a:r>
              <a:t>PYTHON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2461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4212B"/>
                </a:solidFill>
                <a:latin typeface="Aptos"/>
              </a:defRPr>
            </a:pPr>
            <a:r>
              <a:t>Forecast, shortfalls</a:t>
            </a:r>
          </a:p>
          <a:p>
            <a:pPr>
              <a:spcAft>
                <a:spcPts val="300"/>
              </a:spcAft>
              <a:defRPr sz="2000" b="1">
                <a:solidFill>
                  <a:srgbClr val="14212B"/>
                </a:solidFill>
                <a:latin typeface="Aptos"/>
              </a:defRPr>
            </a:pPr>
            <a:r>
              <a:t>Verified fact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3218688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0E7C7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3218688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0E7C7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" y="4892040"/>
            <a:ext cx="10808208" cy="749808"/>
          </a:xfrm>
          <a:prstGeom prst="roundRect">
            <a:avLst>
              <a:gd name="adj" fmla="val 14000"/>
            </a:avLst>
          </a:prstGeom>
          <a:solidFill>
            <a:srgbClr val="FB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120640"/>
            <a:ext cx="1874519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0392B"/>
                </a:solidFill>
                <a:latin typeface="Aptos"/>
              </a:defRPr>
            </a:pPr>
            <a:r>
              <a:t>SECURITY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9776" y="5093208"/>
            <a:ext cx="828446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4212B"/>
                </a:solidFill>
                <a:latin typeface="Aptos"/>
              </a:defRPr>
            </a:pPr>
            <a:r>
              <a:t>No AI permission to settle funds, send money, or approve a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4000"/>
            </a:avLst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84048"/>
            <a:ext cx="283464" cy="283464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0233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2B2E"/>
                </a:solidFill>
                <a:latin typeface="Aptos"/>
              </a:defRPr>
            </a:pPr>
            <a:r>
              <a:t>CAMPUSFIN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48056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98178"/>
                </a:solidFill>
                <a:latin typeface="Aptos"/>
              </a:defRPr>
            </a:pPr>
            <a:r>
              <a:t>CREATIVE INTERACTION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886968"/>
            <a:ext cx="11000232" cy="0"/>
          </a:xfrm>
          <a:prstGeom prst="line">
            <a:avLst/>
          </a:prstGeom>
          <a:ln w="12700">
            <a:solidFill>
              <a:srgbClr val="E4E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12B"/>
                </a:solidFill>
                <a:latin typeface="Aptos"/>
              </a:defRPr>
            </a:pPr>
            <a:r>
              <a:t>An Innovation Lab judges can challenge.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65376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63757B"/>
                </a:solidFill>
                <a:latin typeface="Aptos"/>
              </a:defRPr>
            </a:pPr>
            <a:r>
              <a:t>Five deliberately connected capabilities—not twenty decorative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92240"/>
            <a:ext cx="8869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8AA19A"/>
                </a:solidFill>
                <a:latin typeface="Aptos"/>
              </a:defRPr>
            </a:pPr>
            <a:r>
              <a:t>08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2359152"/>
            <a:ext cx="3575304" cy="13533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51176"/>
            <a:ext cx="40233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7C7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2542032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4212B"/>
                </a:solidFill>
                <a:latin typeface="Aptos"/>
              </a:defRPr>
            </a:pPr>
            <a:r>
              <a:t>CRISIS TIME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2935224"/>
            <a:ext cx="27432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3757B"/>
                </a:solidFill>
                <a:latin typeface="Aptos"/>
              </a:defRPr>
            </a:pPr>
            <a:r>
              <a:t>Four recalculated futures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2359152"/>
            <a:ext cx="3575304" cy="13533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551176"/>
            <a:ext cx="40233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7C7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542032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4212B"/>
                </a:solidFill>
                <a:latin typeface="Aptos"/>
              </a:defRPr>
            </a:pPr>
            <a:r>
              <a:t>ESSENTIALGUARD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935224"/>
            <a:ext cx="27432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3757B"/>
                </a:solidFill>
                <a:latin typeface="Aptos"/>
              </a:defRPr>
            </a:pPr>
            <a:r>
              <a:t>Protect student reserves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8472" y="2359152"/>
            <a:ext cx="3575304" cy="13533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551176"/>
            <a:ext cx="40233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7C7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4" y="2542032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4212B"/>
                </a:solidFill>
                <a:latin typeface="Aptos"/>
              </a:defRPr>
            </a:pPr>
            <a:r>
              <a:t>DECISION X-RAY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4" y="2935224"/>
            <a:ext cx="27432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3757B"/>
                </a:solidFill>
                <a:latin typeface="Aptos"/>
              </a:defRPr>
            </a:pPr>
            <a:r>
              <a:t>Auditable reason codes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" y="3931920"/>
            <a:ext cx="3575304" cy="13533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123944"/>
            <a:ext cx="40233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7C7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744" y="4114800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4212B"/>
                </a:solidFill>
                <a:latin typeface="Aptos"/>
              </a:defRPr>
            </a:pPr>
            <a:r>
              <a:t>FX SHOCK ABSORBER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0744" y="4507992"/>
            <a:ext cx="27432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3757B"/>
                </a:solidFill>
                <a:latin typeface="Aptos"/>
              </a:defRPr>
            </a:pPr>
            <a:r>
              <a:t>Hypothetical currency swings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7992" y="3931920"/>
            <a:ext cx="3575304" cy="13533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4123944"/>
            <a:ext cx="40233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E7C7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1224" y="4114800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4212B"/>
                </a:solidFill>
                <a:latin typeface="Aptos"/>
              </a:defRPr>
            </a:pPr>
            <a:r>
              <a:t>CHAOS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4507992"/>
            <a:ext cx="27432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3757B"/>
                </a:solidFill>
                <a:latin typeface="Aptos"/>
              </a:defRPr>
            </a:pPr>
            <a:r>
              <a:t>Seven fixture-based checks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8472" y="3941063"/>
            <a:ext cx="3575304" cy="1353312"/>
          </a:xfrm>
          <a:prstGeom prst="roundRect">
            <a:avLst>
              <a:gd name="adj" fmla="val 14000"/>
            </a:avLst>
          </a:prstGeom>
          <a:solidFill>
            <a:srgbClr val="173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2792" y="422452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BCECDC"/>
                </a:solidFill>
                <a:latin typeface="Aptos"/>
              </a:defRPr>
            </a:pPr>
            <a:r>
              <a:t>THE CREATIVE 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460857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 visible “why” behind each choice.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4000"/>
            </a:avLst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84048"/>
            <a:ext cx="283464" cy="283464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0233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2B2E"/>
                </a:solidFill>
                <a:latin typeface="Aptos"/>
              </a:defRPr>
            </a:pPr>
            <a:r>
              <a:t>CAMPUSFIN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48056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98178"/>
                </a:solidFill>
                <a:latin typeface="Aptos"/>
              </a:defRPr>
            </a:pPr>
            <a:r>
              <a:t>REPRODUCIBLE EVIDENCE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886968"/>
            <a:ext cx="11000232" cy="0"/>
          </a:xfrm>
          <a:prstGeom prst="line">
            <a:avLst/>
          </a:prstGeom>
          <a:ln w="12700">
            <a:solidFill>
              <a:srgbClr val="E4E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12B"/>
                </a:solidFill>
                <a:latin typeface="Aptos"/>
              </a:defRPr>
            </a:pPr>
            <a:r>
              <a:t>Trust is a behavior we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65376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63757B"/>
                </a:solidFill>
                <a:latin typeface="Aptos"/>
              </a:defRPr>
            </a:pPr>
            <a:r>
              <a:t>Automated Python tests are recorded; unexecuted QA is disclosed honestly.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92240"/>
            <a:ext cx="8869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8AA19A"/>
                </a:solidFill>
                <a:latin typeface="Aptos"/>
              </a:defRPr>
            </a:pPr>
            <a:r>
              <a:t>09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2322576"/>
            <a:ext cx="3730752" cy="2670048"/>
          </a:xfrm>
          <a:prstGeom prst="roundRect">
            <a:avLst>
              <a:gd name="adj" fmla="val 14000"/>
            </a:avLst>
          </a:prstGeom>
          <a:solidFill>
            <a:srgbClr val="112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862072"/>
            <a:ext cx="31089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4800" b="1">
                <a:solidFill>
                  <a:srgbClr val="FFFFFF"/>
                </a:solidFill>
                <a:latin typeface="Aptos"/>
              </a:defRPr>
            </a:pPr>
            <a:r>
              <a:t>72 / 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41648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9DE2C9"/>
                </a:solidFill>
                <a:latin typeface="Aptos"/>
              </a:defRPr>
            </a:pPr>
            <a:r>
              <a:t>BACKEND TESTS 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322576"/>
            <a:ext cx="3163824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2542032"/>
            <a:ext cx="2816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DETERMINISTIC 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944368"/>
            <a:ext cx="2788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4212B"/>
                </a:solidFill>
                <a:latin typeface="Aptos"/>
              </a:defRPr>
            </a:pPr>
            <a:r>
              <a:t>Decimal amount calculations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322576"/>
            <a:ext cx="3163824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542032"/>
            <a:ext cx="2816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UNAUTHORIZED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944368"/>
            <a:ext cx="2788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4212B"/>
                </a:solidFill>
                <a:latin typeface="Aptos"/>
              </a:defRPr>
            </a:pPr>
            <a:r>
              <a:t>Read-only Gemini tool allowlist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1728" y="3739896"/>
            <a:ext cx="3163824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3959352"/>
            <a:ext cx="2816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SCENARIO 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4361688"/>
            <a:ext cx="2788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4212B"/>
                </a:solidFill>
                <a:latin typeface="Aptos"/>
              </a:defRPr>
            </a:pPr>
            <a:r>
              <a:t>Chat, Horizon and ProofCard align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739896"/>
            <a:ext cx="3163824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3959352"/>
            <a:ext cx="2816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7C7B"/>
                </a:solidFill>
                <a:latin typeface="Aptos"/>
              </a:defRPr>
            </a:pPr>
            <a:r>
              <a:t>CHAOS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4361688"/>
            <a:ext cx="2788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4212B"/>
                </a:solidFill>
                <a:latin typeface="Aptos"/>
              </a:defRPr>
            </a:pPr>
            <a:r>
              <a:t>Actual fixture assertions, not fake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56235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C0392B"/>
                </a:solidFill>
                <a:latin typeface="Aptos"/>
              </a:defRPr>
            </a:pPr>
            <a:r>
              <a:t>Frontend production build &amp; device QA: final Windows verification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4000"/>
            </a:avLst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84048"/>
            <a:ext cx="283464" cy="283464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0233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2B2E"/>
                </a:solidFill>
                <a:latin typeface="Aptos"/>
              </a:defRPr>
            </a:pPr>
            <a:r>
              <a:t>CAMPUSFIN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48056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698178"/>
                </a:solidFill>
                <a:latin typeface="Aptos"/>
              </a:defRPr>
            </a:pPr>
            <a:r>
              <a:t>ARCHITECTURE &amp; LIMITS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886968"/>
            <a:ext cx="11000232" cy="0"/>
          </a:xfrm>
          <a:prstGeom prst="line">
            <a:avLst/>
          </a:prstGeom>
          <a:ln w="12700">
            <a:solidFill>
              <a:srgbClr val="E4E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4212B"/>
                </a:solidFill>
                <a:latin typeface="Aptos"/>
              </a:defRPr>
            </a:pPr>
            <a:r>
              <a:t>Built to demonstrate financial agency safely.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65376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63757B"/>
                </a:solidFill>
                <a:latin typeface="Aptos"/>
              </a:defRPr>
            </a:pPr>
            <a:r>
              <a:t>React + FastAPI + SQLite + Gemini, with a verified calculation boundary.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92240"/>
            <a:ext cx="8869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8AA19A"/>
                </a:solidFill>
                <a:latin typeface="Aptos"/>
              </a:defRPr>
            </a:pPr>
            <a:r>
              <a:t>10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377440"/>
            <a:ext cx="2724912" cy="1508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88336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E7C7B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27832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3757B"/>
                </a:solidFill>
                <a:latin typeface="Aptos"/>
              </a:defRPr>
            </a:pPr>
            <a:r>
              <a:t>Mobile-first premium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2377440"/>
            <a:ext cx="2724912" cy="1508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2688336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E7C7B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3227832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3757B"/>
                </a:solidFill>
                <a:latin typeface="Aptos"/>
              </a:defRPr>
            </a:pPr>
            <a:r>
              <a:t>Validation + permissions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377440"/>
            <a:ext cx="2724912" cy="1508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688336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E7C7B"/>
                </a:solidFill>
                <a:latin typeface="Aptos"/>
              </a:defRPr>
            </a:pPr>
            <a:r>
              <a:t>DECIMAL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3227832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3757B"/>
                </a:solidFill>
                <a:latin typeface="Aptos"/>
              </a:defRPr>
            </a:pPr>
            <a:r>
              <a:t>Forecast + rescue math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63456" y="2377440"/>
            <a:ext cx="2724912" cy="1508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E4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8" y="2688336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E7C7B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8" y="3227832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3757B"/>
                </a:solidFill>
                <a:latin typeface="Aptos"/>
              </a:defRPr>
            </a:pPr>
            <a:r>
              <a:t>Local demo +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4251960"/>
            <a:ext cx="10835640" cy="1353312"/>
          </a:xfrm>
          <a:prstGeom prst="roundRect">
            <a:avLst>
              <a:gd name="adj" fmla="val 14000"/>
            </a:avLst>
          </a:prstGeom>
          <a:solidFill>
            <a:srgbClr val="E9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535424"/>
            <a:ext cx="28437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E7C7B"/>
                </a:solidFill>
                <a:latin typeface="Aptos"/>
              </a:defRPr>
            </a:pPr>
            <a:r>
              <a:t>CLEARLY OUT OF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928616"/>
            <a:ext cx="997610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4212B"/>
                </a:solidFill>
                <a:latin typeface="Aptos"/>
              </a:defRPr>
            </a:pPr>
            <a:r>
              <a:t>Live banking, real money transfers, authenticated public access, official FX quotes, university approvals and production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4000"/>
            </a:avLst>
          </a:prstGeom>
          <a:solidFill>
            <a:srgbClr val="112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84048"/>
            <a:ext cx="283464" cy="283464"/>
          </a:xfrm>
          <a:prstGeom prst="roundRect">
            <a:avLst>
              <a:gd name="adj" fmla="val 14000"/>
            </a:avLst>
          </a:prstGeom>
          <a:solidFill>
            <a:srgbClr val="9DE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40233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CAMPUSFIN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48056"/>
            <a:ext cx="299923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A6C3BA"/>
                </a:solidFill>
                <a:latin typeface="Aptos"/>
              </a:defRPr>
            </a:pPr>
            <a:r>
              <a:t>CONCLUSION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886968"/>
            <a:ext cx="11000232" cy="0"/>
          </a:xfrm>
          <a:prstGeom prst="line">
            <a:avLst/>
          </a:prstGeom>
          <a:ln w="12700">
            <a:solidFill>
              <a:srgbClr val="395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89336" y="6492240"/>
            <a:ext cx="886968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9EC9BF"/>
                </a:solidFill>
                <a:latin typeface="Aptos"/>
              </a:defRPr>
            </a:pPr>
            <a:r>
              <a:t>11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389888"/>
            <a:ext cx="9875520" cy="245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Predict the crisis.</a:t>
            </a:r>
          </a:p>
          <a:p>
            <a:pPr>
              <a:spcAft>
                <a:spcPts val="3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Prove the options.</a:t>
            </a:r>
          </a:p>
          <a:p>
            <a:pPr>
              <a:spcAft>
                <a:spcPts val="3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Protect the student.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4626864"/>
            <a:ext cx="9921240" cy="950976"/>
          </a:xfrm>
          <a:prstGeom prst="roundRect">
            <a:avLst>
              <a:gd name="adj" fmla="val 14000"/>
            </a:avLst>
          </a:prstGeom>
          <a:solidFill>
            <a:srgbClr val="1F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4882896"/>
            <a:ext cx="295351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B7E9D7"/>
                </a:solidFill>
                <a:latin typeface="Aptos"/>
              </a:defRPr>
            </a:pPr>
            <a:r>
              <a:t>CAMPUSFIN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5272" y="4992624"/>
            <a:ext cx="45811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PREDICT  ·  RESCUE  ·  PROVE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